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0" d="100"/>
          <a:sy n="120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7D50-6D21-FCDB-5F9C-2B83465AE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F397E-8816-7C65-D60D-2A9F3D064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9F21B-5C37-1C4C-4A71-12DBB8B7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067CD-4B0A-0B8E-69B1-01143452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3EF7-C5E0-FE92-6138-77275F8D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6906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1C33-AFFE-3EA2-42C3-92ABA940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9BEED-C2B7-CB1F-B2E8-31CFE9FEE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9A021-3502-0533-0BA1-9E229245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9001A-309A-1BD6-66F8-6E95AF9D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956A-C88E-BAA2-8B77-3639C2D9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2457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6E38-4C82-5962-32E4-CA5607A2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5068A-FD7A-3D5C-B154-DF5437B35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8E29E-1536-052A-FC10-ACA2F088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59379-9E16-4F3B-F447-CF3C67D4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00664-677F-D7CC-CA28-E7463A8F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4082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006A-BBC5-6DD5-C4EE-4D69A8E5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8D00-3BA7-1146-88A2-661365D17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2D5B0-8AFC-5D8E-743C-77C3A3DD3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C695E-9863-0081-10FA-E8B8452C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86722-C0A6-E8D7-78A6-D7F673E1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5FB35-2702-794E-A751-B9A5B7ED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0101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DF64-A41D-B730-0C82-AAB74054A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458D1-0357-544D-FA55-7802646A8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711BF-4CD4-984C-300E-145539F73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A23F7-5973-ED5A-9CDB-AD132D1D7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589C7-65EE-F6F6-19BD-01872D9D8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DC231-EFC9-95AB-87CE-C8C8745C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B8CEF-7E94-B3A0-7BA3-C060185E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5EC9B-8995-909B-CE8D-0FD3B824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597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2E61-835E-E884-739D-62E1AB66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B3598-8B0C-A916-5C8D-C078CE0D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12D40-A6D4-D4CC-885B-304D0629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3A437-D237-2D10-64ED-73800CA2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0166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810B6-EA49-425D-00A7-072BA847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5CC35-EF86-60DB-140D-6AF43C3F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6438F-EB84-8841-323D-E5436787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2420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7CE8-03A3-661F-90F3-6D9835DF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E400A-3AFB-1A64-CC4C-C27503A91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81997-21B7-9E6F-0ACD-D1C439220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FF1ED-BE00-CA8F-BA73-3A53AD0B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DE82C-F630-0A66-DE43-9DD1FAFF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4F975-EC76-3A97-DD81-61A0254E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8986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14ED-9DA2-548F-AD61-0FE212B1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4581F-A750-9BDF-79BA-C549800B0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71932-F6BA-B7AF-C1FC-8BC61ED41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12E84-A218-5170-BA3B-65F9E34D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FB2E9-7330-53A1-D013-EAF30DB6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51023-77A6-6C3E-3616-21993500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8140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58D3-CCBC-6178-CACA-21C69E96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B5D66-3EF8-B160-260A-BD7D01F35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DB562-B508-6515-4A3C-DC504E4E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52905-5B55-3EF6-7ED2-4DEB8D49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530B-7CBE-4AB5-96FA-A7EE5822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9733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5D6FC-0265-93B9-268A-0F7417B86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38FF6-FD83-4828-701D-F3F727894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50D53-747A-33DB-E668-A1F663A0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EDA5D-40F9-5EEA-03B2-60F9EB24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83974-C4E1-64D7-5822-6DF40DE0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9023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0880-9A57-A393-48D9-716A27B3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2C397-C527-DE0C-BA5B-5B2A3886D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32C07-A0CB-3A3E-E587-CE75DBE9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A637-B128-83C0-3505-87A43625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2F587-4388-5F7B-8C0C-BA2415DE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3760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2F04A-6C8E-321C-4E56-47B09FB7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97F52-4435-2AC7-1729-ABDE08C88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BBA21-F6B9-2A9E-6F42-5CB803C0B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80F29-1A2E-8641-B1EF-7DC5E6AC9593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E6CB-812E-78E1-3986-7D8F82DDB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E2900-5BEF-3226-EF7A-810FE366E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AB7C5-5E9A-1D4B-BB2C-CE4E4DD2C18C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9118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3E1BD-78EA-6101-E080-992CC7A0C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From Operations Floor to Governed Analytics Delivery</a:t>
            </a:r>
            <a:endParaRPr lang="en-MX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FC1DE49-43A1-238B-1FA0-BD95D6576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Manuel A. Orozco | Analytics Engineer / BI Lead | Operational systems, BI modernization, and Microsoft Fabric proof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5886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E4CC75-14A1-84CA-7997-52A91BD2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Career Arc: 2018 to 2026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B5F41-FD6F-A523-439F-216206F5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- 2018-2021: Learned the business from the floor and optimized manual processes</a:t>
            </a:r>
          </a:p>
          <a:p>
            <a:r>
              <a:rPr lang="en-US"/>
              <a:t>- 2019-2021: Moved from execution support into KPI-driven tooling across supply chain, logistics, collections, and sales</a:t>
            </a:r>
          </a:p>
          <a:p>
            <a:r>
              <a:rPr lang="en-US"/>
              <a:t>- 2021-2022: Formalized business-rule tooling for planning, allocation, commissions, rebates, and pricing logic</a:t>
            </a:r>
          </a:p>
          <a:p>
            <a:r>
              <a:rPr lang="en-US"/>
              <a:t>- 2022-2025: Scaled BI delivery through Power BI, Power Platform, semantic logic, and governance direction</a:t>
            </a:r>
          </a:p>
          <a:p>
            <a:r>
              <a:rPr lang="en-US"/>
              <a:t>- 2025-2026: Converted that experience into a governed Microsoft Fabric portfolio proof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6786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22AE62-3913-3329-5833-F2ED3EC3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1 - Learn the Business, Earn Trust, Improve the Work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8DEDA-3F26-3C45-C3EC-BE082D640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Started in assembly and warehouse execution work</a:t>
            </a:r>
          </a:p>
          <a:p>
            <a:r>
              <a:rPr lang="en-US"/>
              <a:t>- Applied industrial-engineering thinking to distribute line steps and improve hourly yield</a:t>
            </a:r>
          </a:p>
          <a:p>
            <a:r>
              <a:rPr lang="en-US"/>
              <a:t>- Stepped into inbound QC coverage when the manager was out</a:t>
            </a:r>
          </a:p>
          <a:p>
            <a:r>
              <a:rPr lang="en-US"/>
              <a:t>- Earned trust through reliability, curiosity, and process understanding</a:t>
            </a:r>
          </a:p>
          <a:p>
            <a:r>
              <a:rPr lang="en-US"/>
              <a:t>- Moved into full-time supply chain and logistics support because I showed I could do more than execute tasks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03198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3164D5-AEB7-C5E1-2203-5C6BE417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2 - Excel Tools Became Early Decision Support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7F446-6629-34B3-4C25-B8602044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Built Excel-based inventory and logistics tools to maintain raw material availability without overstocking</a:t>
            </a:r>
          </a:p>
          <a:p>
            <a:r>
              <a:rPr lang="en-US"/>
              <a:t>- Learned purchase-order planning, inventory planning, and procurement execution in practice</a:t>
            </a:r>
          </a:p>
          <a:p>
            <a:r>
              <a:rPr lang="en-US"/>
              <a:t>- Managed customer communication across 30+ accounts in central and east-coast regions</a:t>
            </a:r>
          </a:p>
          <a:p>
            <a:r>
              <a:rPr lang="en-US"/>
              <a:t>- Partnered with outside sales to clean up severe past-due debt on two major accounts without interrupting product supply</a:t>
            </a:r>
          </a:p>
          <a:p>
            <a:r>
              <a:rPr lang="en-US"/>
              <a:t>- Started producing weekly sales reporting so stakeholders could read account behavior more clearly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0571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C56B1-F583-B71E-7F2C-A80B2E36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3 - From Reporting to Business-Rule Tooling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BC4F3B-0FFC-9DF7-D00A-2747169DC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Focus shifted toward KPI drivers such as service level, lead time, inventory value, and revenue</a:t>
            </a:r>
          </a:p>
          <a:p>
            <a:r>
              <a:rPr lang="en-US"/>
              <a:t>- Extracted and summarized ERP facts from SAP BusinessByDesign CSV outputs</a:t>
            </a:r>
          </a:p>
          <a:p>
            <a:r>
              <a:rPr lang="en-US"/>
              <a:t>- Built demand-planning and forecasting logic that went beyond static reporting</a:t>
            </a:r>
          </a:p>
          <a:p>
            <a:r>
              <a:rPr lang="en-US"/>
              <a:t>- Developed logistics allocation logic to guide inventory placement across five locations</a:t>
            </a:r>
          </a:p>
          <a:p>
            <a:r>
              <a:rPr lang="en-US"/>
              <a:t>- Standardized commission, margin, rebate, and pricing logic from irregular POS-driven inputs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659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DE5CEF-92DB-9CEB-898E-56DF3DE4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4 - BI Modernization and Governance Direction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E96FA-4004-DDD7-E732-C8F348109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- Maintained and evolved a BI environment that at peak supported 30 reports and 12 dashboards with a small team</a:t>
            </a:r>
          </a:p>
          <a:p>
            <a:r>
              <a:rPr lang="en-US"/>
              <a:t>- Moved Excel-based logic toward Power BI Service through dataflows, modeled datasets, and DAX-based reporting logic</a:t>
            </a:r>
          </a:p>
          <a:p>
            <a:r>
              <a:rPr lang="en-US"/>
              <a:t>- Built a Power Platform app using SharePoint Lists, Power Automate, Power Apps, and Power Fx for special pricing agreements</a:t>
            </a:r>
          </a:p>
          <a:p>
            <a:r>
              <a:rPr lang="en-US"/>
              <a:t>- App generated BOM-based margin views, routed approvals, and reviewed active agreements against updated unit costs</a:t>
            </a:r>
          </a:p>
          <a:p>
            <a:r>
              <a:rPr lang="en-US"/>
              <a:t>- Introduced documentation, workspace separation, semantic consistency, and governance direction while training a junior analyst to support execution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6290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F19F92-AF1C-DBBE-0225-4CDA49FC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5 - Fabric Portfolio Proof as Formalized Method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BA846-1225-3376-E24F-98F9CC701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Built a bounded Microsoft Fabric proof around an inventory-readiness decision case instead of a generic sample dataset</a:t>
            </a:r>
          </a:p>
          <a:p>
            <a:r>
              <a:rPr lang="en-US"/>
              <a:t>- Kept the repo as the governance plane for approved inputs, contracts, validation gates, and release records</a:t>
            </a:r>
          </a:p>
          <a:p>
            <a:r>
              <a:rPr lang="en-US"/>
              <a:t>- Used Fabric as the execution plane for Bronze landing, Silver cleanup, Gold serving, and runtime governance</a:t>
            </a:r>
          </a:p>
          <a:p>
            <a:r>
              <a:rPr lang="en-US"/>
              <a:t>- Added a semantic model, report shell, candidate lane, and release traceability to the proof</a:t>
            </a:r>
          </a:p>
          <a:p>
            <a:r>
              <a:rPr lang="en-US"/>
              <a:t>- Published a public-safe case-study surface that explains both the business question and the technical method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9650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C3FFE-2EA1-F82F-D091-0A27D57C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Background Fits an Azure and SQL to Fabric Transition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FAE55-F919-8EE0-C484-2AC6104A6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I already work best in environments where logic is fragmented and definitions are still being stabilized</a:t>
            </a:r>
          </a:p>
          <a:p>
            <a:r>
              <a:rPr lang="en-US"/>
              <a:t>- My background is translating operational questions into governed analytical layers, not just building visuals</a:t>
            </a:r>
          </a:p>
          <a:p>
            <a:r>
              <a:rPr lang="en-US"/>
              <a:t>- I have already moved work from spreadsheets and ad hoc logic toward reusable BI and platform patterns</a:t>
            </a:r>
          </a:p>
          <a:p>
            <a:r>
              <a:rPr lang="en-US"/>
              <a:t>- The platform may shift toward Fabric, but the core work is still source interpretation, modeling, governance, and adoption</a:t>
            </a:r>
          </a:p>
          <a:p>
            <a:r>
              <a:rPr lang="en-US"/>
              <a:t>- I can bridge business stakeholders, BI delivery, and the newer Fabric execution layer while the data culture matures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46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3641C7-ED11-2E5C-D8AE-B844937A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 - Tooling Stack by Era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67B691-43C4-5981-39B4-0D6AF6E39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- Historical stack: Excel, CSV exports, SAP BusinessByDesign, SharePoint Lists, Power BI Service, dataflows, datasets, DAX, OData/REST</a:t>
            </a:r>
          </a:p>
          <a:p>
            <a:r>
              <a:rPr lang="en-US"/>
              <a:t>- Historical app layer: Power Automate, Power Apps, and Power Fx for pricing and approval workflows</a:t>
            </a:r>
          </a:p>
          <a:p>
            <a:r>
              <a:rPr lang="en-US"/>
              <a:t>- Portfolio stack: Node.js automation, JSON contracts, validation gates, Python Fabric APIs, and PySpark notebooks</a:t>
            </a:r>
          </a:p>
          <a:p>
            <a:r>
              <a:rPr lang="en-US"/>
              <a:t>- Portfolio serving layer: Delta Lakehouse tables, semantic model, DAX measure pack, report shell, and Astro case-study surface</a:t>
            </a:r>
          </a:p>
          <a:p>
            <a:r>
              <a:rPr lang="en-US"/>
              <a:t>- Common thread: model the business first, then choose the right serving and governance layer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5718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868E5-3F9D-D53A-278E-9D6C87FA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 - Current vs Target Fabric Architecture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90554-421F-4E88-B882-B66CB6612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Current state: the repo still generates and approves the bounded input package</a:t>
            </a:r>
          </a:p>
          <a:p>
            <a:r>
              <a:rPr lang="en-US"/>
              <a:t>- Current state: Fabric already lands Bronze and derives Silver, Gold, runtime governance, semantic model, and report shell</a:t>
            </a:r>
          </a:p>
          <a:p>
            <a:r>
              <a:rPr lang="en-US"/>
              <a:t>- Target state: Bronze becomes more honestly raw-like while Silver owns cleanup and conformance</a:t>
            </a:r>
          </a:p>
          <a:p>
            <a:r>
              <a:rPr lang="en-US"/>
              <a:t>- Target state: Gold remains serving and the long-term public truth comes from a bounded Fabric-derived extract</a:t>
            </a:r>
          </a:p>
          <a:p>
            <a:r>
              <a:rPr lang="en-US"/>
              <a:t>- Key distinction: understand current implemented state versus target state without overclaiming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03849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From Operations Floor to Governed Analytics Delivery</vt:lpstr>
      <vt:lpstr>Career Arc: 2018 to 2026</vt:lpstr>
      <vt:lpstr>Phase 1 - Learn the Business, Earn Trust, Improve the Work</vt:lpstr>
      <vt:lpstr>Phase 2 - Excel Tools Became Early Decision Support</vt:lpstr>
      <vt:lpstr>Phase 3 - From Reporting to Business-Rule Tooling</vt:lpstr>
      <vt:lpstr>Phase 4 - BI Modernization and Governance Direction</vt:lpstr>
      <vt:lpstr>Phase 5 - Fabric Portfolio Proof as Formalized Method</vt:lpstr>
      <vt:lpstr>Why This Background Fits an Azure and SQL to Fabric Transition</vt:lpstr>
      <vt:lpstr>Appendix - Tooling Stack by Era</vt:lpstr>
      <vt:lpstr>Appendix - Current vs Target Fabric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Orozco Parra</dc:creator>
  <cp:lastModifiedBy>Manuel Orozco Parra</cp:lastModifiedBy>
  <cp:revision>1</cp:revision>
  <dcterms:created xsi:type="dcterms:W3CDTF">2026-04-09T18:13:27Z</dcterms:created>
  <dcterms:modified xsi:type="dcterms:W3CDTF">2026-04-09T18:13:32Z</dcterms:modified>
</cp:coreProperties>
</file>